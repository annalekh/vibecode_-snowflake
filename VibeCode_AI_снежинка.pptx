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svg" ContentType="image/svg"/>
  <Override PartName="/ppt/media/image8.png" ContentType="image/png"/>
  <Override PartName="/ppt/media/image9.png" ContentType="image/png"/>
  <Override PartName="/ppt/media/image10.svg" ContentType="image/svg"/>
  <Override PartName="/ppt/media/image11.png" ContentType="image/png"/>
  <Override PartName="/ppt/media/image12.svg" ContentType="image/sv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Google Shape;90;p18"/>
          <p:cNvSpPr/>
          <p:nvPr/>
        </p:nvSpPr>
        <p:spPr>
          <a:xfrm>
            <a:off x="432720" y="3902400"/>
            <a:ext cx="850104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Цифровая трансформация </a:t>
            </a:r>
            <a:br>
              <a:rPr sz="4400"/>
            </a:b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бизнеса, регионов и страны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91;p18"/>
          <p:cNvSpPr/>
          <p:nvPr/>
        </p:nvSpPr>
        <p:spPr>
          <a:xfrm>
            <a:off x="432720" y="5579280"/>
            <a:ext cx="454212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+7 495 648-08-08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info@t1.ru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Google Shape;92;p18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24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вк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кс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та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гл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щ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ё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лк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ит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прав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ки 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струк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туры 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щёлк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ните 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мыш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ро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й 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уро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вен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 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укт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ур</a:t>
            </a: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й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ё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й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й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й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й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Титульный слайд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Google Shape;18;p3" descr="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432720" y="4144680"/>
            <a:ext cx="776088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32720" y="5723640"/>
            <a:ext cx="7760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 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 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 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 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щ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ё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 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ы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</a:t>
            </a: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ю</a:t>
            </a:r>
            <a:endParaRPr b="0" lang="ru-RU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10332000" y="-29502720"/>
            <a:ext cx="144828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Google Shape;22;p3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240" cy="600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Титу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4;p4"/>
          <p:cNvSpPr/>
          <p:nvPr/>
        </p:nvSpPr>
        <p:spPr>
          <a:xfrm>
            <a:off x="347760" y="6510240"/>
            <a:ext cx="8546760" cy="307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5;p4"/>
          <p:cNvSpPr/>
          <p:nvPr/>
        </p:nvSpPr>
        <p:spPr>
          <a:xfrm rot="21102000">
            <a:off x="5203800" y="502200"/>
            <a:ext cx="7382160" cy="6863760"/>
          </a:xfrm>
          <a:custGeom>
            <a:avLst/>
            <a:gdLst>
              <a:gd name="textAreaLeft" fmla="*/ 0 w 7382160"/>
              <a:gd name="textAreaRight" fmla="*/ 7382880 w 7382160"/>
              <a:gd name="textAreaTop" fmla="*/ 0 h 6863760"/>
              <a:gd name="textAreaBottom" fmla="*/ 6864480 h 6863760"/>
            </a:gdLst>
            <a:ahLst/>
            <a:cxnLst/>
            <a:rect l="textAreaLeft" t="textAreaTop" r="textAreaRight" b="textAreaBottom"/>
            <a:pathLst>
              <a:path w="7348803" h="6474983">
                <a:moveTo>
                  <a:pt x="4190835" y="0"/>
                </a:moveTo>
                <a:lnTo>
                  <a:pt x="7348803" y="460855"/>
                </a:lnTo>
                <a:lnTo>
                  <a:pt x="7348803" y="932742"/>
                </a:lnTo>
                <a:lnTo>
                  <a:pt x="6540003" y="6474983"/>
                </a:lnTo>
                <a:lnTo>
                  <a:pt x="0" y="5520575"/>
                </a:lnTo>
                <a:lnTo>
                  <a:pt x="80563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432720" y="3870360"/>
            <a:ext cx="5826960" cy="26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32720" y="5723640"/>
            <a:ext cx="58269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10332000" y="-29502720"/>
            <a:ext cx="144828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Google Shape;29;p4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240" cy="600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голубой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08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3;p5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темный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08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37;p6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39;p7"/>
          <p:cNvSpPr/>
          <p:nvPr/>
        </p:nvSpPr>
        <p:spPr>
          <a:xfrm>
            <a:off x="431640" y="375840"/>
            <a:ext cx="8949960" cy="6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Содержание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442800" y="1384920"/>
            <a:ext cx="5652360" cy="26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41;p7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0;p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43;p8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21972A0E-A2A1-4B92-8874-94083E128AA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05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под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0;p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11;p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60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47;p9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734D2A40-7D34-4323-8D30-62C0EBFD8937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6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31640" y="1458360"/>
            <a:ext cx="9616320" cy="150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3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0;p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11;p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60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6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3647520" cy="22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271040" y="2945160"/>
            <a:ext cx="3647520" cy="22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8110440" y="2945160"/>
            <a:ext cx="3647520" cy="22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56;p10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1CEB26D9-1ED9-44BE-97BA-983EDEC96C7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432720" y="4144680"/>
            <a:ext cx="775188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432720" y="5723640"/>
            <a:ext cx="7751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0332000" y="-29502720"/>
            <a:ext cx="144828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Google Shape;16;p2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240" cy="600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4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10;p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1;p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60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6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2675880" cy="22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198480" y="2945160"/>
            <a:ext cx="2675880" cy="22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9082080" y="2945160"/>
            <a:ext cx="2675880" cy="22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3327840" y="2945160"/>
            <a:ext cx="2675880" cy="22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64;p11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175395DC-340B-4596-AFC3-06DA57F69A68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фото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0;p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1;p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body"/>
          </p:nvPr>
        </p:nvSpPr>
        <p:spPr>
          <a:xfrm>
            <a:off x="7343640" y="0"/>
            <a:ext cx="4847400" cy="685728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67;p12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62658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640" y="1022400"/>
            <a:ext cx="6265800" cy="443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70;p12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00BE1A2C-A241-4C42-AED7-EA740A09AC24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голубой фон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60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73;p13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6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75;p13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4111E4AD-DC5E-4ECB-B060-D2C8D2170F6D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темный фон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600" cy="235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78;p14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6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80;p14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7ECA4D43-4E6F-4836-984B-E551A6E78E51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аленький 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0;p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;p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32720" y="466200"/>
            <a:ext cx="9519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83;p15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3EC109CC-2951-49E1-9559-AA092E144DC2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;p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1;p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85;p16"/>
          <p:cNvSpPr/>
          <p:nvPr/>
        </p:nvSpPr>
        <p:spPr>
          <a:xfrm>
            <a:off x="0" y="6566040"/>
            <a:ext cx="4312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DA0FA2B9-6A14-4F5C-B00E-B85A05725698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пасибо за внима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;p1" hidden="1"/>
          <p:cNvSpPr/>
          <p:nvPr/>
        </p:nvSpPr>
        <p:spPr>
          <a:xfrm>
            <a:off x="432720" y="5806080"/>
            <a:ext cx="92660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1;p1" hidden="1"/>
          <p:cNvSpPr/>
          <p:nvPr/>
        </p:nvSpPr>
        <p:spPr>
          <a:xfrm>
            <a:off x="11196360" y="443520"/>
            <a:ext cx="562320" cy="400320"/>
          </a:xfrm>
          <a:custGeom>
            <a:avLst/>
            <a:gdLst>
              <a:gd name="textAreaLeft" fmla="*/ 0 w 562320"/>
              <a:gd name="textAreaRight" fmla="*/ 563040 w 562320"/>
              <a:gd name="textAreaTop" fmla="*/ 0 h 400320"/>
              <a:gd name="textAreaBottom" fmla="*/ 401040 h 40032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87;p17"/>
          <p:cNvSpPr/>
          <p:nvPr/>
        </p:nvSpPr>
        <p:spPr>
          <a:xfrm>
            <a:off x="422640" y="5139000"/>
            <a:ext cx="6114240" cy="14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Спасибо </a:t>
            </a:r>
            <a:br>
              <a:rPr sz="6000"/>
            </a:b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за внимание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Google Shape;88;p17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24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432720" y="6221160"/>
            <a:ext cx="775188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57200" indent="-2286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Команда Снежинка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title"/>
          </p:nvPr>
        </p:nvSpPr>
        <p:spPr>
          <a:xfrm>
            <a:off x="432720" y="4517280"/>
            <a:ext cx="7751880" cy="14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VibeCODE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10332000" y="5125320"/>
            <a:ext cx="1448280" cy="13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spcBef>
                <a:spcPts val="1417"/>
              </a:spcBef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08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Контекст и цель проекта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32720" y="1434600"/>
            <a:ext cx="11087280" cy="487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Проблема:</a:t>
            </a: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живые интервьюеры не успевают обрабатывать потоки кандидатов и тратить время на однотипные junior-собеседования.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Цель: </a:t>
            </a: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автоматизировать 5 ключевых этапов интервью (задача → код → анализ → диалог → отчет) и сохранить вовлеченность кандидата.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Результат: </a:t>
            </a:r>
            <a:r>
              <a:rPr b="0" lang="ru-RU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единая платформа с веб-IDE, чат-ботом и адаптивной логикой, готовая к живой демонстрации.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 txBox="1"/>
          <p:nvPr/>
        </p:nvSpPr>
        <p:spPr>
          <a:xfrm>
            <a:off x="271080" y="540000"/>
            <a:ext cx="5128920" cy="71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Архитектура и стек</a:t>
            </a:r>
            <a:endParaRPr b="0" lang="ru-RU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20000" y="1239480"/>
            <a:ext cx="9540000" cy="543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3" descr="component-architecture.png"/>
          <p:cNvPicPr/>
          <p:nvPr/>
        </p:nvPicPr>
        <p:blipFill>
          <a:blip r:embed="rId1"/>
          <a:stretch/>
        </p:blipFill>
        <p:spPr>
          <a:xfrm>
            <a:off x="360000" y="308160"/>
            <a:ext cx="10972440" cy="617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20000" y="570600"/>
            <a:ext cx="10571760" cy="572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280" y="52920"/>
            <a:ext cx="12191760" cy="677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 txBox="1"/>
          <p:nvPr/>
        </p:nvSpPr>
        <p:spPr>
          <a:xfrm>
            <a:off x="451080" y="279720"/>
            <a:ext cx="8908920" cy="134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Демонстрация работы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Основной шаблон Т1">
  <a:themeElements>
    <a:clrScheme name="Пользовательские 11">
      <a:dk1>
        <a:srgbClr val="353535"/>
      </a:dk1>
      <a:lt1>
        <a:srgbClr val="ffffff"/>
      </a:lt1>
      <a:dk2>
        <a:srgbClr val="005aaa"/>
      </a:dk2>
      <a:lt2>
        <a:srgbClr val="00aae5"/>
      </a:lt2>
      <a:accent1>
        <a:srgbClr val="c4c4c4"/>
      </a:accent1>
      <a:accent2>
        <a:srgbClr val="11e9b9"/>
      </a:accent2>
      <a:accent3>
        <a:srgbClr val="1dc9e4"/>
      </a:accent3>
      <a:accent4>
        <a:srgbClr val="f47568"/>
      </a:accent4>
      <a:accent5>
        <a:srgbClr val="fecc66"/>
      </a:accent5>
      <a:accent6>
        <a:srgbClr val="8ecc4f"/>
      </a:accent6>
      <a:hlink>
        <a:srgbClr val="00aae6"/>
      </a:hlink>
      <a:folHlink>
        <a:srgbClr val="005aaa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cp:lastPrinted>2025-11-26T12:23:59Z</cp:lastPrinted>
  <dcterms:modified xsi:type="dcterms:W3CDTF">2025-11-27T19:27:21Z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