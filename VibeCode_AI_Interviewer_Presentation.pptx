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иту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432720" y="3930840"/>
            <a:ext cx="77522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32720" y="3255120"/>
            <a:ext cx="7752240" cy="27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0332000" y="-29502360"/>
            <a:ext cx="144864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Google Shape;16;p2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4 колонки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3164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9848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908208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body"/>
          </p:nvPr>
        </p:nvSpPr>
        <p:spPr>
          <a:xfrm>
            <a:off x="332784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64;p11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29E93D1D-D03C-41EE-ACD3-EEF9239C55AD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фото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7343640" y="0"/>
            <a:ext cx="4847760" cy="685764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67;p12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62661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31640" y="1022400"/>
            <a:ext cx="6266160" cy="443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70;p12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D0943DE5-0EE2-4E2E-BBD7-46EA5EB1953D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голубой фон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73;p13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75;p13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74329F1E-DF41-4A9F-AA00-E572F4D8A6B1}" type="slidenum">
              <a:rPr b="0" lang="ru-RU" sz="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темный фон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78;p14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80;p14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919554B3-749C-496A-B9EE-29EF7E788F31}" type="slidenum">
              <a:rPr b="0" lang="ru-RU" sz="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аленький заголов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32720" y="466200"/>
            <a:ext cx="951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83;p15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656D9C27-1029-41D9-BB9E-D572DD6D0A18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85;p16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CE43B3E0-2D8D-4A86-A9F7-9D1096F325CE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пасибо за внимание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87;p17"/>
          <p:cNvSpPr/>
          <p:nvPr/>
        </p:nvSpPr>
        <p:spPr>
          <a:xfrm>
            <a:off x="422640" y="5139000"/>
            <a:ext cx="6114600" cy="14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Спасибо </a:t>
            </a:r>
            <a:br>
              <a:rPr sz="6000"/>
            </a:b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за внимание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Google Shape;88;p17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а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0;p18"/>
          <p:cNvSpPr/>
          <p:nvPr/>
        </p:nvSpPr>
        <p:spPr>
          <a:xfrm>
            <a:off x="432720" y="3902400"/>
            <a:ext cx="850140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-RU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Цифровая трансформация </a:t>
            </a:r>
            <a:br>
              <a:rPr sz="4400"/>
            </a:br>
            <a:r>
              <a:rPr b="1" lang="ru-RU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бизнеса, регионов и страны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91;p18"/>
          <p:cNvSpPr/>
          <p:nvPr/>
        </p:nvSpPr>
        <p:spPr>
          <a:xfrm>
            <a:off x="432720" y="5579280"/>
            <a:ext cx="454248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t1.ru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+7 495 648-08-08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info@t1.ru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Google Shape;92;p18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Титульный слайд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Google Shape;18;p3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body"/>
          </p:nvPr>
        </p:nvSpPr>
        <p:spPr>
          <a:xfrm>
            <a:off x="432720" y="3930840"/>
            <a:ext cx="77612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432720" y="3255120"/>
            <a:ext cx="7761240" cy="27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10332000" y="-29502360"/>
            <a:ext cx="144864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Google Shape;22;p3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Титуль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24;p4"/>
          <p:cNvSpPr/>
          <p:nvPr/>
        </p:nvSpPr>
        <p:spPr>
          <a:xfrm>
            <a:off x="347760" y="6510240"/>
            <a:ext cx="8547120" cy="30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25;p4"/>
          <p:cNvSpPr/>
          <p:nvPr/>
        </p:nvSpPr>
        <p:spPr>
          <a:xfrm rot="21102000">
            <a:off x="5204160" y="502200"/>
            <a:ext cx="7382520" cy="6864120"/>
          </a:xfrm>
          <a:custGeom>
            <a:avLst/>
            <a:gdLst>
              <a:gd name="textAreaLeft" fmla="*/ 0 w 7382520"/>
              <a:gd name="textAreaRight" fmla="*/ 7382880 w 7382520"/>
              <a:gd name="textAreaTop" fmla="*/ 0 h 6864120"/>
              <a:gd name="textAreaBottom" fmla="*/ 6864480 h 6864120"/>
            </a:gdLst>
            <a:ahLst/>
            <a:cxnLst/>
            <a:rect l="textAreaLeft" t="textAreaTop" r="textAreaRight" b="textAreaBottom"/>
            <a:pathLst>
              <a:path w="7348803" h="6474983">
                <a:moveTo>
                  <a:pt x="4190835" y="0"/>
                </a:moveTo>
                <a:lnTo>
                  <a:pt x="7348803" y="460855"/>
                </a:lnTo>
                <a:lnTo>
                  <a:pt x="7348803" y="932742"/>
                </a:lnTo>
                <a:lnTo>
                  <a:pt x="6540003" y="6474983"/>
                </a:lnTo>
                <a:lnTo>
                  <a:pt x="0" y="5520575"/>
                </a:lnTo>
                <a:lnTo>
                  <a:pt x="805639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432720" y="3625920"/>
            <a:ext cx="5827320" cy="28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432720" y="2340720"/>
            <a:ext cx="5827320" cy="365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10332000" y="-29502360"/>
            <a:ext cx="144864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29;p4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итель голубой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440" cy="146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32720" y="1434600"/>
            <a:ext cx="94154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33;p5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итель темный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440" cy="146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32720" y="1434600"/>
            <a:ext cx="94154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37;p6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одержание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39;p7"/>
          <p:cNvSpPr/>
          <p:nvPr/>
        </p:nvSpPr>
        <p:spPr>
          <a:xfrm>
            <a:off x="431640" y="375840"/>
            <a:ext cx="895032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Содержание</a:t>
            </a:r>
            <a:endParaRPr b="0" lang="ru-RU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body"/>
          </p:nvPr>
        </p:nvSpPr>
        <p:spPr>
          <a:xfrm>
            <a:off x="442800" y="1384920"/>
            <a:ext cx="5652720" cy="23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41;p7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43;p8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E4DAB513-C7E5-4CFB-AB1D-AC98052A468E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062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подзаголов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47;p9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0E9274A6-9A9B-4BC8-B1F7-93C08F18F1DC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31640" y="1458360"/>
            <a:ext cx="9616680" cy="15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3 колонки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31640" y="2945160"/>
            <a:ext cx="364788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4271040" y="2945160"/>
            <a:ext cx="364788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8110440" y="2945160"/>
            <a:ext cx="364788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56;p10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960D54CE-383A-414B-A01C-08A71945442B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/>
          </p:nvPr>
        </p:nvSpPr>
        <p:spPr>
          <a:xfrm>
            <a:off x="432720" y="6131520"/>
            <a:ext cx="7752240" cy="36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57200" indent="-228600">
              <a:lnSpc>
                <a:spcPct val="12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Команда Снежинка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title"/>
          </p:nvPr>
        </p:nvSpPr>
        <p:spPr>
          <a:xfrm>
            <a:off x="432720" y="4518000"/>
            <a:ext cx="7752240" cy="148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lnSpc>
                <a:spcPct val="80000"/>
              </a:lnSpc>
              <a:buNone/>
            </a:pP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VibeCODE</a:t>
            </a:r>
            <a:endParaRPr b="1" lang="ru-RU" sz="6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10332000" y="5429880"/>
            <a:ext cx="1448640" cy="106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44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80000"/>
              </a:lnSpc>
              <a:buNone/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Выбранные инструменты</a:t>
            </a:r>
            <a:endParaRPr b="1" lang="ru-RU" sz="48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32720" y="1434600"/>
            <a:ext cx="9415440" cy="456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Выбор модели для разных задач (qwen3-32b-awq для всех задач)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Настройка температуры в зависимости от задачи: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- 0.3 - для анализа кода (точность)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- 0.7 - для генерации задач (креативность)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- 0.8 - для диалога (естественность)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Структурированные промпты для JSON ответов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Обработка различных форматов ответов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Streaming поддержка для real-time генерации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IDE: Monaco Editor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Front: Electron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Back; python 3.15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37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80000"/>
              </a:lnSpc>
              <a:buNone/>
            </a:pPr>
            <a:r>
              <a:rPr b="1" lang="ru-RU" sz="3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Архитектура проекта</a:t>
            </a:r>
            <a:endParaRPr b="1" lang="ru-RU" sz="3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776520" y="862560"/>
            <a:ext cx="7503480" cy="576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813240" y="236160"/>
            <a:ext cx="10581840" cy="640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Адаптивная платформа техсобеседований с LLM и античитом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VibeCode AI Interviewer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Контекст и цель проекта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Проблема: живые интервьюеры не успевают обрабатывать потоки кандидатов и тратить время на однотипные junior-собеседования.</a:t>
            </a:r>
          </a:p>
          <a:p>
            <a:pPr/>
            <a:r>
              <a:t>Цель: автоматизировать 5 ключевых этапов интервью (задача → код → анализ → диалог → отчет) и сохранить вовлеченность кандидата.</a:t>
            </a:r>
          </a:p>
          <a:p>
            <a:pPr/>
            <a:r>
              <a:t>Результат: единая платформа с веб-IDE, чат-ботом и адаптивной логикой, готовая к живой демонстрации.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и стек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Backend (Node.js + Express) из `ai-interviewer`: модули LLM-клиента, генератора задач, аналитики и адаптивного подборщика (`src/llm`, `src/core`).</a:t>
            </a:r>
          </a:p>
          <a:p>
            <a:pPr/>
            <a:r>
              <a:t>Frontend (vanilla JS + Monaco) из `web-app`: SPA с отдельными модулями для IDE, тестов, репорта, anti-cheat и real-time UI.</a:t>
            </a:r>
          </a:p>
          <a:p>
            <a:pPr/>
            <a:r>
              <a:t>LLM-интеграция через Scibox (OpenAI-compatible API) с моделью qwen3-32b-awq, поддержкой streaming и fallback-логикой.</a:t>
            </a:r>
          </a:p>
          <a:p>
            <a:pPr/>
            <a:r>
              <a:t>Инфраструктура: Docker Compose (backend + frontend), healthcheck-и, единая сеть `ai-interviewer-network`.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выбран именно этот стек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Node.js + Express → быстрые REST/LLM-прокси, одна кодовая база для синхронных и streaming-запросов (`openai` SDK).</a:t>
            </a:r>
          </a:p>
          <a:p>
            <a:pPr/>
            <a:r>
              <a:t>Vanilla JS + модульная архитектура → полный контроль над UI-потоком Demo, отсутствие тяжелых сборок, работа в офлайн-режиме (file://).</a:t>
            </a:r>
          </a:p>
          <a:p>
            <a:pPr/>
            <a:r>
              <a:t>Monaco Editor → реальный IDE-опыт кандидата, подсветка, автодополнение и мониторинг ввода.</a:t>
            </a:r>
          </a:p>
          <a:p>
            <a:pPr/>
            <a:r>
              <a:t>Scibox/Qwen → мощные модели без гео-ограничений и с OpenAI-совместимым API, что уменьшает время интеграции.</a:t>
            </a:r>
          </a:p>
          <a:p>
            <a:pPr/>
            <a:r>
              <a:t>Docker Compose → мгновенная готовность демо-стенда и масштабирование по горизонтали (реплика backend + CDN-frontend).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фичи демонстрации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Real-time генерация задач с анимацией и стримингом (`web-app/app.js`, `summarizeAndGenerateNextTask`).</a:t>
            </a:r>
          </a:p>
          <a:p>
            <a:pPr/>
            <a:r>
              <a:t>Профессиональный IDE-экран: Monaco, запуск кода, менеджер тестов c процентажом и скрытыми тестами (`js/modules/task-renderer.js`).</a:t>
            </a:r>
          </a:p>
          <a:p>
            <a:pPr/>
            <a:r>
              <a:t>Диалог с LLM-интервьюером и уточняющие вопросы (`js/modules/chat-manager.js`, `ai-interviewer/src/llm`).</a:t>
            </a:r>
          </a:p>
          <a:p>
            <a:pPr/>
            <a:r>
              <a:t>Античит: фиксация clipboard/devtools/tab-switch событий, подсчет и визуализация (`js/modules/anti-cheat.js`).</a:t>
            </a:r>
          </a:p>
          <a:p>
            <a:pPr/>
            <a:r>
              <a:t>Финальный отчет + экспорт HTML/JSON с сильными/слабыми сторонами (`js/modules/report-manager.js`).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реализованы критические модули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Адаптивный подбор (`core/adaptive-selector.js`): анализ тренда, автоматическое повышение/понижение уровня и LLM-подтверждение с fallback-режимом.</a:t>
            </a:r>
          </a:p>
          <a:p>
            <a:pPr/>
            <a:r>
              <a:t>Code executor (`runtime/code-executor.js`): безопасный запуск Python/JS, измерение времени и нормализация stdout/stderr.</a:t>
            </a:r>
          </a:p>
          <a:p>
            <a:pPr/>
            <a:r>
              <a:t>Task renderer (`web-app/js/modules/task-renderer.js`): единый шаблон требований/примеров/подсказок плюс расширенная панель тестов.</a:t>
            </a:r>
          </a:p>
          <a:p>
            <a:pPr/>
            <a:r>
              <a:t>Report manager (`web-app/js/modules/report-manager.js`): orchestration API `/reports/generate`, сохранение истории кандидата и экспорт.</a:t>
            </a:r>
          </a:p>
          <a:p>
            <a:pPr/>
            <a:r>
              <a:t>Anti-cheat (`web-app/js/modules/anti-cheat.js`): модульные слушатели, rate-limit событий, синхронизация admin и candidate экранов.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Тестирование на реальных задачах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Автоматические smoke-тесты (`test-results.json`): 9/9 успешных проверок (структура файлов, генерация задач, запуск кода, отчеты).</a:t>
            </a:r>
          </a:p>
          <a:p>
            <a:pPr/>
            <a:r>
              <a:t>Адаптивный сценарий (`adaptive-test-results.txt`): три задачи, динамическое понижение уровня (Junior → Junior-) и объяснения адаптации.</a:t>
            </a:r>
          </a:p>
          <a:p>
            <a:pPr/>
            <a:r>
              <a:t>Глубокий тест анализатора (`analyzer-test-results.txt`): генерация реальной задачи, оценка разных решений, диагностика boundary-case и подсказки.</a:t>
            </a:r>
          </a:p>
          <a:p>
            <a:pPr/>
            <a:r>
              <a:t>Все прогоны выполнены на Scibox qwen3-32b-awq и фиксируют id задач/времена исполнения, их можно воспроизвести во время демо.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Масштабируемость и надежность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Stateless backend + Docker → масштабирование количества интервьюеров через горизонтальный автоскейлинг, добавление внешних очередей/кеша.</a:t>
            </a:r>
          </a:p>
          <a:p>
            <a:pPr/>
            <a:r>
              <a:t>Адаптивный движок хранит историю задач на клиенте и сервере, что позволяет вынести state в распределенное хранилище и строить аналитику.</a:t>
            </a:r>
          </a:p>
          <a:p>
            <a:pPr/>
            <a:r>
              <a:t>Anti-cheat и метрики реализованы как независимые модули, поэтому их можно подключать в Electron/desktop без переработки логики.</a:t>
            </a:r>
          </a:p>
          <a:p>
            <a:pPr/>
            <a:r>
              <a:t>Health-check-и в Compose + fallback-режимы LLM делают демо устойчивым при отказах streaming или частичном API-доступе.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Планы развития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Roadmap (`ai-interviewer/ROADMAP.md`): закрыть этапы 3–7 (углубленный анализ решений, чат, метрики, античит).</a:t>
            </a:r>
          </a:p>
          <a:p>
            <a:pPr/>
            <a:r>
              <a:t>Интеграция с ATS/HRIS через REST hooks и экспорт отчета в PDF для автоприкрепления к карточке кандидата.</a:t>
            </a:r>
          </a:p>
          <a:p>
            <a:pPr/>
            <a:r>
              <a:t>Гибридный банк задач (LLM + curated) для экономии токенов и единообразия навыков.</a:t>
            </a:r>
          </a:p>
          <a:p>
            <a:pPr/>
            <a:r>
              <a:t>Поддержка многопользовательских демо: параллельные сессии, синхронизация состояния и авторассылка отчётов в админ-панель.</a:t>
            </a:r>
          </a:p>
          <a:p>
            <a:pPr/>
            <a:r>
              <a:t>Сбор метрик качества интервью (CSAT, time-to-hire) и A/B тестирование стратегий адаптивности.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Демо готово — запуск через docker compose up или web-app/index.html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Основной шаблон Т1">
  <a:themeElements>
    <a:clrScheme name="Пользовательские 11">
      <a:dk1>
        <a:srgbClr val="353535"/>
      </a:dk1>
      <a:lt1>
        <a:srgbClr val="ffffff"/>
      </a:lt1>
      <a:dk2>
        <a:srgbClr val="005aaa"/>
      </a:dk2>
      <a:lt2>
        <a:srgbClr val="00aae5"/>
      </a:lt2>
      <a:accent1>
        <a:srgbClr val="c4c4c4"/>
      </a:accent1>
      <a:accent2>
        <a:srgbClr val="11e9b9"/>
      </a:accent2>
      <a:accent3>
        <a:srgbClr val="1dc9e4"/>
      </a:accent3>
      <a:accent4>
        <a:srgbClr val="f47568"/>
      </a:accent4>
      <a:accent5>
        <a:srgbClr val="fecc66"/>
      </a:accent5>
      <a:accent6>
        <a:srgbClr val="8ecc4f"/>
      </a:accent6>
      <a:hlink>
        <a:srgbClr val="00aae6"/>
      </a:hlink>
      <a:folHlink>
        <a:srgbClr val="005aaa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cp:lastPrinted>2025-11-26T12:23:59Z</cp:lastPrinted>
  <dcterms:modified xsi:type="dcterms:W3CDTF">2025-11-26T12:25:06Z</dcterms:modified>
  <cp:revision>1</cp:revision>
  <dc:subject/>
  <dc:title/>
</cp:coreProperties>
</file>